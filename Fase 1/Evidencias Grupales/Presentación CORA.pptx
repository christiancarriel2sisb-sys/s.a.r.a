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ocomat Pro Heavy" panose="020B0604020202020204" charset="0"/>
      <p:regular r:id="rId9"/>
    </p:embeddedFont>
    <p:embeddedFont>
      <p:font typeface="Noto Sans" panose="020B0502040204020203" pitchFamily="34" charset="0"/>
      <p:regular r:id="rId10"/>
    </p:embeddedFont>
    <p:embeddedFont>
      <p:font typeface="Noto Sa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89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A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5143500"/>
            <a:ext cx="14263463" cy="11957730"/>
            <a:chOff x="0" y="0"/>
            <a:chExt cx="1142785" cy="958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2785" cy="958050"/>
            </a:xfrm>
            <a:custGeom>
              <a:avLst/>
              <a:gdLst/>
              <a:ahLst/>
              <a:cxnLst/>
              <a:rect l="l" t="t" r="r" b="b"/>
              <a:pathLst>
                <a:path w="1142785" h="958050">
                  <a:moveTo>
                    <a:pt x="571392" y="0"/>
                  </a:moveTo>
                  <a:cubicBezTo>
                    <a:pt x="255821" y="0"/>
                    <a:pt x="0" y="214467"/>
                    <a:pt x="0" y="479025"/>
                  </a:cubicBezTo>
                  <a:cubicBezTo>
                    <a:pt x="0" y="743583"/>
                    <a:pt x="255821" y="958050"/>
                    <a:pt x="571392" y="958050"/>
                  </a:cubicBezTo>
                  <a:cubicBezTo>
                    <a:pt x="886964" y="958050"/>
                    <a:pt x="1142785" y="743583"/>
                    <a:pt x="1142785" y="479025"/>
                  </a:cubicBezTo>
                  <a:cubicBezTo>
                    <a:pt x="1142785" y="214467"/>
                    <a:pt x="886964" y="0"/>
                    <a:pt x="5713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136" y="42192"/>
              <a:ext cx="928513" cy="82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22323"/>
            <a:ext cx="10520408" cy="69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68"/>
              </a:lnSpc>
              <a:spcBef>
                <a:spcPct val="0"/>
              </a:spcBef>
            </a:pPr>
            <a:r>
              <a:rPr lang="en-US" sz="3977" b="1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PROYECTO CORA: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964948" y="-934651"/>
            <a:ext cx="2300987" cy="230098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257140" y="893804"/>
            <a:ext cx="6288425" cy="9130200"/>
          </a:xfrm>
          <a:custGeom>
            <a:avLst/>
            <a:gdLst/>
            <a:ahLst/>
            <a:cxnLst/>
            <a:rect l="l" t="t" r="r" b="b"/>
            <a:pathLst>
              <a:path w="6288425" h="9130200">
                <a:moveTo>
                  <a:pt x="0" y="0"/>
                </a:moveTo>
                <a:lnTo>
                  <a:pt x="6288425" y="0"/>
                </a:lnTo>
                <a:lnTo>
                  <a:pt x="6288425" y="9130200"/>
                </a:lnTo>
                <a:lnTo>
                  <a:pt x="0" y="913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028700" y="4247453"/>
            <a:ext cx="9475241" cy="1871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1"/>
              </a:lnSpc>
              <a:spcBef>
                <a:spcPct val="0"/>
              </a:spcBef>
            </a:pPr>
            <a:r>
              <a:rPr lang="en-US" sz="5336" b="1" u="none" strike="noStrike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ROBOT DE COMPAÑÍA</a:t>
            </a:r>
          </a:p>
          <a:p>
            <a:pPr marL="0" lvl="0" indent="0" algn="l">
              <a:lnSpc>
                <a:spcPts val="7471"/>
              </a:lnSpc>
              <a:spcBef>
                <a:spcPct val="0"/>
              </a:spcBef>
            </a:pPr>
            <a:r>
              <a:rPr lang="en-US" sz="5336" b="1" u="none" strike="noStrike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PARA ADULTOS MAYORES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A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856925" y="6662293"/>
            <a:ext cx="12549976" cy="12663776"/>
            <a:chOff x="0" y="0"/>
            <a:chExt cx="812800" cy="820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05303" y="3636533"/>
            <a:ext cx="1169131" cy="1160363"/>
          </a:xfrm>
          <a:custGeom>
            <a:avLst/>
            <a:gdLst/>
            <a:ahLst/>
            <a:cxnLst/>
            <a:rect l="l" t="t" r="r" b="b"/>
            <a:pathLst>
              <a:path w="1169131" h="1160363">
                <a:moveTo>
                  <a:pt x="0" y="0"/>
                </a:moveTo>
                <a:lnTo>
                  <a:pt x="1169131" y="0"/>
                </a:lnTo>
                <a:lnTo>
                  <a:pt x="1169131" y="1160363"/>
                </a:lnTo>
                <a:lnTo>
                  <a:pt x="0" y="1160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6905303" y="5463646"/>
            <a:ext cx="1169131" cy="1160363"/>
          </a:xfrm>
          <a:custGeom>
            <a:avLst/>
            <a:gdLst/>
            <a:ahLst/>
            <a:cxnLst/>
            <a:rect l="l" t="t" r="r" b="b"/>
            <a:pathLst>
              <a:path w="1169131" h="1160363">
                <a:moveTo>
                  <a:pt x="0" y="0"/>
                </a:moveTo>
                <a:lnTo>
                  <a:pt x="1169131" y="0"/>
                </a:lnTo>
                <a:lnTo>
                  <a:pt x="1169131" y="1160363"/>
                </a:lnTo>
                <a:lnTo>
                  <a:pt x="0" y="11603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6905303" y="7291704"/>
            <a:ext cx="1169131" cy="1160363"/>
          </a:xfrm>
          <a:custGeom>
            <a:avLst/>
            <a:gdLst/>
            <a:ahLst/>
            <a:cxnLst/>
            <a:rect l="l" t="t" r="r" b="b"/>
            <a:pathLst>
              <a:path w="1169131" h="1160363">
                <a:moveTo>
                  <a:pt x="0" y="0"/>
                </a:moveTo>
                <a:lnTo>
                  <a:pt x="1169131" y="0"/>
                </a:lnTo>
                <a:lnTo>
                  <a:pt x="1169131" y="1160362"/>
                </a:lnTo>
                <a:lnTo>
                  <a:pt x="0" y="1160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5212158" y="-2406548"/>
            <a:ext cx="4769843" cy="4813095"/>
            <a:chOff x="0" y="0"/>
            <a:chExt cx="812800" cy="8201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018718" y="8617062"/>
            <a:ext cx="1126451" cy="1089841"/>
          </a:xfrm>
          <a:custGeom>
            <a:avLst/>
            <a:gdLst/>
            <a:ahLst/>
            <a:cxnLst/>
            <a:rect l="l" t="t" r="r" b="b"/>
            <a:pathLst>
              <a:path w="1126451" h="108984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reeform 12"/>
          <p:cNvSpPr/>
          <p:nvPr/>
        </p:nvSpPr>
        <p:spPr>
          <a:xfrm>
            <a:off x="-2735965" y="-699891"/>
            <a:ext cx="7810164" cy="13209137"/>
          </a:xfrm>
          <a:custGeom>
            <a:avLst/>
            <a:gdLst/>
            <a:ahLst/>
            <a:cxnLst/>
            <a:rect l="l" t="t" r="r" b="b"/>
            <a:pathLst>
              <a:path w="7810164" h="13209137">
                <a:moveTo>
                  <a:pt x="0" y="0"/>
                </a:moveTo>
                <a:lnTo>
                  <a:pt x="7810164" y="0"/>
                </a:lnTo>
                <a:lnTo>
                  <a:pt x="7810164" y="13209137"/>
                </a:lnTo>
                <a:lnTo>
                  <a:pt x="0" y="13209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6905303" y="1341406"/>
            <a:ext cx="6658297" cy="1855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455"/>
              </a:lnSpc>
              <a:spcBef>
                <a:spcPct val="0"/>
              </a:spcBef>
            </a:pPr>
            <a:r>
              <a:rPr lang="en-US" sz="5325" b="1" dirty="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SITUACIÓN</a:t>
            </a:r>
          </a:p>
          <a:p>
            <a:pPr marL="0" lvl="0" indent="0" algn="l">
              <a:lnSpc>
                <a:spcPts val="7455"/>
              </a:lnSpc>
              <a:spcBef>
                <a:spcPct val="0"/>
              </a:spcBef>
            </a:pPr>
            <a:r>
              <a:rPr lang="en-US" sz="5325" b="1" dirty="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PROBLEMÁTICA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2284" y="3595126"/>
            <a:ext cx="7746434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Envejecimiento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poblacional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soledad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no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deseada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aislamiento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social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creciente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disminución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redes de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apoyo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cotidianas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adultos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mayores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05303" y="3455873"/>
            <a:ext cx="1023363" cy="11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67"/>
              </a:lnSpc>
              <a:spcBef>
                <a:spcPct val="0"/>
              </a:spcBef>
            </a:pPr>
            <a:r>
              <a:rPr lang="en-US" sz="6905" b="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78187" y="5309300"/>
            <a:ext cx="1023363" cy="11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67"/>
              </a:lnSpc>
              <a:spcBef>
                <a:spcPct val="0"/>
              </a:spcBef>
            </a:pPr>
            <a:r>
              <a:rPr lang="en-US" sz="6905" b="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78187" y="7195509"/>
            <a:ext cx="1023363" cy="11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67"/>
              </a:lnSpc>
              <a:spcBef>
                <a:spcPct val="0"/>
              </a:spcBef>
            </a:pPr>
            <a:r>
              <a:rPr lang="en-US" sz="6905" b="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2284" y="5404550"/>
            <a:ext cx="7746434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Impacto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el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bienestar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deterioro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cognitivo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paulatino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por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falta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estimulación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diaria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interacción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social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significativa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72284" y="7217023"/>
            <a:ext cx="774643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Sobrecarga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cuidadores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barreras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actuales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: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dispositivos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comerciales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costosos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o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demasiado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complejos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para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adultos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mayores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dificultando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el </a:t>
            </a:r>
            <a:r>
              <a:rPr lang="en-US" sz="25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acompañamiento</a:t>
            </a:r>
            <a:r>
              <a:rPr lang="en-US" sz="25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continuo.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A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82261">
            <a:off x="328696" y="2110179"/>
            <a:ext cx="9292029" cy="7196560"/>
          </a:xfrm>
          <a:custGeom>
            <a:avLst/>
            <a:gdLst/>
            <a:ahLst/>
            <a:cxnLst/>
            <a:rect l="l" t="t" r="r" b="b"/>
            <a:pathLst>
              <a:path w="9292029" h="7196560">
                <a:moveTo>
                  <a:pt x="0" y="0"/>
                </a:moveTo>
                <a:lnTo>
                  <a:pt x="9292029" y="0"/>
                </a:lnTo>
                <a:lnTo>
                  <a:pt x="9292029" y="7196560"/>
                </a:lnTo>
                <a:lnTo>
                  <a:pt x="0" y="719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2382261">
            <a:off x="10455033" y="2110179"/>
            <a:ext cx="9292029" cy="7196560"/>
          </a:xfrm>
          <a:custGeom>
            <a:avLst/>
            <a:gdLst/>
            <a:ahLst/>
            <a:cxnLst/>
            <a:rect l="l" t="t" r="r" b="b"/>
            <a:pathLst>
              <a:path w="9292029" h="7196560">
                <a:moveTo>
                  <a:pt x="0" y="0"/>
                </a:moveTo>
                <a:lnTo>
                  <a:pt x="9292029" y="0"/>
                </a:lnTo>
                <a:lnTo>
                  <a:pt x="9292029" y="7196560"/>
                </a:lnTo>
                <a:lnTo>
                  <a:pt x="0" y="719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2948514" y="4573881"/>
            <a:ext cx="2248764" cy="2269155"/>
            <a:chOff x="0" y="0"/>
            <a:chExt cx="812800" cy="820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05278" y="4176570"/>
            <a:ext cx="2248764" cy="2269155"/>
            <a:chOff x="0" y="0"/>
            <a:chExt cx="812800" cy="8201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50219" y="4242452"/>
            <a:ext cx="2248764" cy="2269155"/>
            <a:chOff x="0" y="0"/>
            <a:chExt cx="812800" cy="820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497468" y="4729702"/>
            <a:ext cx="2120200" cy="1420534"/>
          </a:xfrm>
          <a:custGeom>
            <a:avLst/>
            <a:gdLst/>
            <a:ahLst/>
            <a:cxnLst/>
            <a:rect l="l" t="t" r="r" b="b"/>
            <a:pathLst>
              <a:path w="2120200" h="1420534">
                <a:moveTo>
                  <a:pt x="0" y="0"/>
                </a:moveTo>
                <a:lnTo>
                  <a:pt x="2120201" y="0"/>
                </a:lnTo>
                <a:lnTo>
                  <a:pt x="2120201" y="1420534"/>
                </a:lnTo>
                <a:lnTo>
                  <a:pt x="0" y="1420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4" name="Group 14"/>
          <p:cNvGrpSpPr/>
          <p:nvPr/>
        </p:nvGrpSpPr>
        <p:grpSpPr>
          <a:xfrm>
            <a:off x="-1732540" y="-2377986"/>
            <a:ext cx="4769843" cy="4813095"/>
            <a:chOff x="0" y="0"/>
            <a:chExt cx="812800" cy="8201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11633" y="8520448"/>
            <a:ext cx="4769843" cy="4813095"/>
            <a:chOff x="0" y="0"/>
            <a:chExt cx="812800" cy="8201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652506" y="352672"/>
            <a:ext cx="437231" cy="441196"/>
            <a:chOff x="0" y="0"/>
            <a:chExt cx="812800" cy="8201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45556" y="8520448"/>
            <a:ext cx="991649" cy="1000641"/>
            <a:chOff x="0" y="0"/>
            <a:chExt cx="812800" cy="8201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8FD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135112" y="1015317"/>
            <a:ext cx="1126451" cy="1089841"/>
          </a:xfrm>
          <a:custGeom>
            <a:avLst/>
            <a:gdLst/>
            <a:ahLst/>
            <a:cxnLst/>
            <a:rect l="l" t="t" r="r" b="b"/>
            <a:pathLst>
              <a:path w="1126451" h="108984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Freeform 27"/>
          <p:cNvSpPr/>
          <p:nvPr/>
        </p:nvSpPr>
        <p:spPr>
          <a:xfrm>
            <a:off x="3317366" y="4729702"/>
            <a:ext cx="1657345" cy="1957515"/>
          </a:xfrm>
          <a:custGeom>
            <a:avLst/>
            <a:gdLst/>
            <a:ahLst/>
            <a:cxnLst/>
            <a:rect l="l" t="t" r="r" b="b"/>
            <a:pathLst>
              <a:path w="1657345" h="1957515">
                <a:moveTo>
                  <a:pt x="0" y="0"/>
                </a:moveTo>
                <a:lnTo>
                  <a:pt x="1657345" y="0"/>
                </a:lnTo>
                <a:lnTo>
                  <a:pt x="1657345" y="1957514"/>
                </a:lnTo>
                <a:lnTo>
                  <a:pt x="0" y="1957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8" name="Freeform 28"/>
          <p:cNvSpPr/>
          <p:nvPr/>
        </p:nvSpPr>
        <p:spPr>
          <a:xfrm>
            <a:off x="14080393" y="4546178"/>
            <a:ext cx="1298534" cy="1529937"/>
          </a:xfrm>
          <a:custGeom>
            <a:avLst/>
            <a:gdLst/>
            <a:ahLst/>
            <a:cxnLst/>
            <a:rect l="l" t="t" r="r" b="b"/>
            <a:pathLst>
              <a:path w="1298534" h="1529937">
                <a:moveTo>
                  <a:pt x="0" y="0"/>
                </a:moveTo>
                <a:lnTo>
                  <a:pt x="1298534" y="0"/>
                </a:lnTo>
                <a:lnTo>
                  <a:pt x="1298534" y="1529937"/>
                </a:lnTo>
                <a:lnTo>
                  <a:pt x="0" y="1529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3615103" y="681471"/>
            <a:ext cx="10813649" cy="65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93"/>
              </a:lnSpc>
              <a:spcBef>
                <a:spcPct val="0"/>
              </a:spcBef>
            </a:pPr>
            <a:r>
              <a:rPr lang="en-US" sz="3852" b="1" u="none" strike="noStrike" dirty="0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PROPUESTA DE SOLUCIÓN: ROBOT CORA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43522" y="7004961"/>
            <a:ext cx="3458747" cy="223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4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Interfaz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alto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contraste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tipografía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legible y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comandos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por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voz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clara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Diseñada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para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adultos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mayores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sin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necesidad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conocimientos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tecnológicos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previos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45228" y="6711536"/>
            <a:ext cx="3458747" cy="255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4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CORA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complementa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el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apoyo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afectivo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familiares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cuidadores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sin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reemplazarlos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Acompañamiento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respetuoso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empático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adaptado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al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ritmo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del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usuario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39440" y="6711536"/>
            <a:ext cx="3458747" cy="190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4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Almacenamiento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seguro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datos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personales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salud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Cumplimiento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normativas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de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privacidad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para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garantizar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la confianza del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usuario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2000" u="none" strike="noStrike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</a:t>
            </a:r>
            <a:r>
              <a:rPr lang="en-US" sz="2000" u="none" strike="noStrike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familia.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79759" y="3641384"/>
            <a:ext cx="2732558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Accesibilidad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48251" y="3256664"/>
            <a:ext cx="281863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Interacción</a:t>
            </a:r>
            <a:r>
              <a:rPr lang="en-US" sz="2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No </a:t>
            </a:r>
            <a:r>
              <a:rPr lang="en-US" sz="2800" b="1" dirty="0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Invasiva</a:t>
            </a:r>
            <a:endParaRPr lang="en-US" sz="2800" b="1" dirty="0">
              <a:solidFill>
                <a:srgbClr val="FFFFF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536243" y="3285163"/>
            <a:ext cx="238683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97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Protección</a:t>
            </a:r>
            <a:r>
              <a:rPr lang="en-US" sz="2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756" y="3008704"/>
            <a:ext cx="5039003" cy="5001211"/>
          </a:xfrm>
          <a:custGeom>
            <a:avLst/>
            <a:gdLst/>
            <a:ahLst/>
            <a:cxnLst/>
            <a:rect l="l" t="t" r="r" b="b"/>
            <a:pathLst>
              <a:path w="5039003" h="5001211">
                <a:moveTo>
                  <a:pt x="0" y="0"/>
                </a:moveTo>
                <a:lnTo>
                  <a:pt x="5039004" y="0"/>
                </a:lnTo>
                <a:lnTo>
                  <a:pt x="5039004" y="5001211"/>
                </a:lnTo>
                <a:lnTo>
                  <a:pt x="0" y="5001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6384927" y="5689115"/>
            <a:ext cx="2773715" cy="1172670"/>
          </a:xfrm>
          <a:custGeom>
            <a:avLst/>
            <a:gdLst/>
            <a:ahLst/>
            <a:cxnLst/>
            <a:rect l="l" t="t" r="r" b="b"/>
            <a:pathLst>
              <a:path w="2773715" h="1172670">
                <a:moveTo>
                  <a:pt x="0" y="0"/>
                </a:moveTo>
                <a:lnTo>
                  <a:pt x="1158258" y="0"/>
                </a:lnTo>
                <a:cubicBezTo>
                  <a:pt x="1218887" y="0"/>
                  <a:pt x="1277032" y="24084"/>
                  <a:pt x="1319903" y="66955"/>
                </a:cubicBezTo>
                <a:cubicBezTo>
                  <a:pt x="1362773" y="109826"/>
                  <a:pt x="1386858" y="167971"/>
                  <a:pt x="1386858" y="228600"/>
                </a:cubicBezTo>
                <a:lnTo>
                  <a:pt x="1386858" y="944070"/>
                </a:lnTo>
                <a:cubicBezTo>
                  <a:pt x="1386858" y="1004699"/>
                  <a:pt x="1410943" y="1062844"/>
                  <a:pt x="1453813" y="1105714"/>
                </a:cubicBezTo>
                <a:cubicBezTo>
                  <a:pt x="1496684" y="1148585"/>
                  <a:pt x="1554830" y="1172670"/>
                  <a:pt x="1615458" y="1172670"/>
                </a:cubicBezTo>
                <a:lnTo>
                  <a:pt x="2773716" y="1172670"/>
                </a:lnTo>
              </a:path>
            </a:pathLst>
          </a:custGeom>
          <a:ln w="38100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-7491370" y="3899983"/>
            <a:ext cx="3880159" cy="2961802"/>
          </a:xfrm>
          <a:custGeom>
            <a:avLst/>
            <a:gdLst/>
            <a:ahLst/>
            <a:cxnLst/>
            <a:rect l="l" t="t" r="r" b="b"/>
            <a:pathLst>
              <a:path w="3880159" h="2961802">
                <a:moveTo>
                  <a:pt x="3880159" y="2961802"/>
                </a:moveTo>
                <a:lnTo>
                  <a:pt x="2168679" y="2961802"/>
                </a:lnTo>
                <a:cubicBezTo>
                  <a:pt x="2042427" y="2961802"/>
                  <a:pt x="1940079" y="2859454"/>
                  <a:pt x="1940079" y="2733202"/>
                </a:cubicBezTo>
                <a:lnTo>
                  <a:pt x="1940079" y="228600"/>
                </a:lnTo>
                <a:cubicBezTo>
                  <a:pt x="1940079" y="167972"/>
                  <a:pt x="1915995" y="109827"/>
                  <a:pt x="1873124" y="66955"/>
                </a:cubicBezTo>
                <a:cubicBezTo>
                  <a:pt x="1830253" y="24085"/>
                  <a:pt x="1772108" y="0"/>
                  <a:pt x="1711479" y="0"/>
                </a:cubicBezTo>
                <a:lnTo>
                  <a:pt x="0" y="0"/>
                </a:lnTo>
              </a:path>
            </a:pathLst>
          </a:custGeom>
          <a:ln w="38100" cap="rnd">
            <a:solidFill>
              <a:srgbClr val="ACB8C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6764760" y="2911401"/>
            <a:ext cx="1897926" cy="2597908"/>
          </a:xfrm>
          <a:custGeom>
            <a:avLst/>
            <a:gdLst/>
            <a:ahLst/>
            <a:cxnLst/>
            <a:rect l="l" t="t" r="r" b="b"/>
            <a:pathLst>
              <a:path w="1897926" h="2597908">
                <a:moveTo>
                  <a:pt x="0" y="2597909"/>
                </a:moveTo>
                <a:lnTo>
                  <a:pt x="0" y="1508504"/>
                </a:lnTo>
                <a:cubicBezTo>
                  <a:pt x="0" y="1452928"/>
                  <a:pt x="22078" y="1399628"/>
                  <a:pt x="61376" y="1360330"/>
                </a:cubicBezTo>
                <a:cubicBezTo>
                  <a:pt x="100674" y="1321032"/>
                  <a:pt x="153974" y="1298954"/>
                  <a:pt x="209550" y="1298954"/>
                </a:cubicBezTo>
                <a:lnTo>
                  <a:pt x="1688376" y="1298954"/>
                </a:lnTo>
                <a:cubicBezTo>
                  <a:pt x="1804107" y="1298954"/>
                  <a:pt x="1897926" y="1205136"/>
                  <a:pt x="1897926" y="1089404"/>
                </a:cubicBezTo>
                <a:lnTo>
                  <a:pt x="1897926" y="0"/>
                </a:lnTo>
              </a:path>
            </a:pathLst>
          </a:custGeom>
          <a:ln w="76200" cap="rnd">
            <a:solidFill>
              <a:srgbClr val="4F8FD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6764760" y="4798000"/>
            <a:ext cx="1897926" cy="711310"/>
          </a:xfrm>
          <a:custGeom>
            <a:avLst/>
            <a:gdLst/>
            <a:ahLst/>
            <a:cxnLst/>
            <a:rect l="l" t="t" r="r" b="b"/>
            <a:pathLst>
              <a:path w="1897926" h="711310">
                <a:moveTo>
                  <a:pt x="0" y="711310"/>
                </a:moveTo>
                <a:lnTo>
                  <a:pt x="739413" y="711310"/>
                </a:lnTo>
                <a:cubicBezTo>
                  <a:pt x="855144" y="711310"/>
                  <a:pt x="948963" y="617491"/>
                  <a:pt x="948963" y="501760"/>
                </a:cubicBezTo>
                <a:lnTo>
                  <a:pt x="948963" y="209550"/>
                </a:lnTo>
                <a:cubicBezTo>
                  <a:pt x="948963" y="93818"/>
                  <a:pt x="1042782" y="0"/>
                  <a:pt x="1158513" y="0"/>
                </a:cubicBezTo>
                <a:lnTo>
                  <a:pt x="1897926" y="0"/>
                </a:lnTo>
              </a:path>
            </a:pathLst>
          </a:custGeom>
          <a:ln w="76200" cap="rnd">
            <a:solidFill>
              <a:srgbClr val="4F8FD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6764760" y="5509310"/>
            <a:ext cx="1897926" cy="1177314"/>
          </a:xfrm>
          <a:custGeom>
            <a:avLst/>
            <a:gdLst/>
            <a:ahLst/>
            <a:cxnLst/>
            <a:rect l="l" t="t" r="r" b="b"/>
            <a:pathLst>
              <a:path w="1897926" h="1177314">
                <a:moveTo>
                  <a:pt x="0" y="0"/>
                </a:moveTo>
                <a:lnTo>
                  <a:pt x="739413" y="0"/>
                </a:lnTo>
                <a:cubicBezTo>
                  <a:pt x="855144" y="0"/>
                  <a:pt x="948963" y="93819"/>
                  <a:pt x="948963" y="209550"/>
                </a:cubicBezTo>
                <a:lnTo>
                  <a:pt x="948963" y="967764"/>
                </a:lnTo>
                <a:cubicBezTo>
                  <a:pt x="948963" y="1083495"/>
                  <a:pt x="1042782" y="1177314"/>
                  <a:pt x="1158513" y="1177314"/>
                </a:cubicBezTo>
                <a:lnTo>
                  <a:pt x="1897926" y="1177314"/>
                </a:lnTo>
              </a:path>
            </a:pathLst>
          </a:custGeom>
          <a:ln w="76200" cap="rnd">
            <a:solidFill>
              <a:srgbClr val="4F8FD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8662686" y="2287190"/>
            <a:ext cx="1248424" cy="12484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94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62686" y="4173788"/>
            <a:ext cx="1248424" cy="12484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94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662686" y="6062412"/>
            <a:ext cx="1248424" cy="12484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942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62686" y="7825837"/>
            <a:ext cx="1248424" cy="12484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8FD1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942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764760" y="5509310"/>
            <a:ext cx="1897926" cy="2940739"/>
          </a:xfrm>
          <a:custGeom>
            <a:avLst/>
            <a:gdLst/>
            <a:ahLst/>
            <a:cxnLst/>
            <a:rect l="l" t="t" r="r" b="b"/>
            <a:pathLst>
              <a:path w="1897926" h="2940739">
                <a:moveTo>
                  <a:pt x="0" y="0"/>
                </a:moveTo>
                <a:lnTo>
                  <a:pt x="0" y="1260819"/>
                </a:lnTo>
                <a:cubicBezTo>
                  <a:pt x="0" y="1316396"/>
                  <a:pt x="22078" y="1369696"/>
                  <a:pt x="61376" y="1408993"/>
                </a:cubicBezTo>
                <a:cubicBezTo>
                  <a:pt x="100674" y="1448292"/>
                  <a:pt x="153974" y="1470369"/>
                  <a:pt x="209550" y="1470369"/>
                </a:cubicBezTo>
                <a:lnTo>
                  <a:pt x="1688376" y="1470369"/>
                </a:lnTo>
                <a:cubicBezTo>
                  <a:pt x="1804107" y="1470369"/>
                  <a:pt x="1897926" y="1564188"/>
                  <a:pt x="1897926" y="1679919"/>
                </a:cubicBezTo>
                <a:lnTo>
                  <a:pt x="1897926" y="2940739"/>
                </a:lnTo>
              </a:path>
            </a:pathLst>
          </a:custGeom>
          <a:ln w="76200" cap="rnd">
            <a:solidFill>
              <a:srgbClr val="4F8FD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21" name="Group 21"/>
          <p:cNvGrpSpPr/>
          <p:nvPr/>
        </p:nvGrpSpPr>
        <p:grpSpPr>
          <a:xfrm>
            <a:off x="15140430" y="-2672673"/>
            <a:ext cx="4801388" cy="4844925"/>
            <a:chOff x="0" y="0"/>
            <a:chExt cx="812800" cy="8201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1680925" y="8267090"/>
            <a:ext cx="4801388" cy="4844925"/>
            <a:chOff x="0" y="0"/>
            <a:chExt cx="812800" cy="8201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629159" y="-299344"/>
            <a:ext cx="984659" cy="993588"/>
            <a:chOff x="0" y="0"/>
            <a:chExt cx="812800" cy="8201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020718" y="9695965"/>
            <a:ext cx="984659" cy="993588"/>
            <a:chOff x="0" y="0"/>
            <a:chExt cx="812800" cy="8201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20462" y="8866377"/>
            <a:ext cx="484221" cy="488612"/>
            <a:chOff x="0" y="0"/>
            <a:chExt cx="812800" cy="8201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20170"/>
            </a:xfrm>
            <a:custGeom>
              <a:avLst/>
              <a:gdLst/>
              <a:ahLst/>
              <a:cxnLst/>
              <a:rect l="l" t="t" r="r" b="b"/>
              <a:pathLst>
                <a:path w="812800" h="820170">
                  <a:moveTo>
                    <a:pt x="406400" y="0"/>
                  </a:moveTo>
                  <a:cubicBezTo>
                    <a:pt x="181951" y="0"/>
                    <a:pt x="0" y="183601"/>
                    <a:pt x="0" y="410085"/>
                  </a:cubicBezTo>
                  <a:cubicBezTo>
                    <a:pt x="0" y="636569"/>
                    <a:pt x="181951" y="820170"/>
                    <a:pt x="406400" y="820170"/>
                  </a:cubicBezTo>
                  <a:cubicBezTo>
                    <a:pt x="630849" y="820170"/>
                    <a:pt x="812800" y="636569"/>
                    <a:pt x="812800" y="410085"/>
                  </a:cubicBezTo>
                  <a:cubicBezTo>
                    <a:pt x="812800" y="18360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A2E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29266"/>
              <a:ext cx="660400" cy="7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6300314" y="8713379"/>
            <a:ext cx="1126451" cy="1089841"/>
          </a:xfrm>
          <a:custGeom>
            <a:avLst/>
            <a:gdLst/>
            <a:ahLst/>
            <a:cxnLst/>
            <a:rect l="l" t="t" r="r" b="b"/>
            <a:pathLst>
              <a:path w="1126451" h="1089841">
                <a:moveTo>
                  <a:pt x="0" y="0"/>
                </a:moveTo>
                <a:lnTo>
                  <a:pt x="1126450" y="0"/>
                </a:lnTo>
                <a:lnTo>
                  <a:pt x="1126450" y="1089842"/>
                </a:lnTo>
                <a:lnTo>
                  <a:pt x="0" y="1089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7" name="Freeform 37"/>
          <p:cNvSpPr/>
          <p:nvPr/>
        </p:nvSpPr>
        <p:spPr>
          <a:xfrm>
            <a:off x="3079444" y="4449167"/>
            <a:ext cx="2313716" cy="3121371"/>
          </a:xfrm>
          <a:custGeom>
            <a:avLst/>
            <a:gdLst/>
            <a:ahLst/>
            <a:cxnLst/>
            <a:rect l="l" t="t" r="r" b="b"/>
            <a:pathLst>
              <a:path w="2313716" h="3121371">
                <a:moveTo>
                  <a:pt x="0" y="0"/>
                </a:moveTo>
                <a:lnTo>
                  <a:pt x="2313716" y="0"/>
                </a:lnTo>
                <a:lnTo>
                  <a:pt x="2313716" y="3121370"/>
                </a:lnTo>
                <a:lnTo>
                  <a:pt x="0" y="3121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8" name="TextBox 38"/>
          <p:cNvSpPr txBox="1"/>
          <p:nvPr/>
        </p:nvSpPr>
        <p:spPr>
          <a:xfrm>
            <a:off x="10034934" y="2237294"/>
            <a:ext cx="4747866" cy="303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1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Módulo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Conversacional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y Voz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41505" y="2749815"/>
            <a:ext cx="6169071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Diálogo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natural con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respuestas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cotidianas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comandos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accesibles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por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voz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Permite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a CORA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interactuar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de forma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fluida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comprensible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con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adultos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mayores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83282" y="2505418"/>
            <a:ext cx="1007232" cy="58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83282" y="4392017"/>
            <a:ext cx="1007232" cy="58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83282" y="6280640"/>
            <a:ext cx="1007232" cy="58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783282" y="8044066"/>
            <a:ext cx="1007232" cy="58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88"/>
              </a:lnSpc>
              <a:spcBef>
                <a:spcPct val="0"/>
              </a:spcBef>
            </a:pPr>
            <a:r>
              <a:rPr lang="en-US" sz="3491" b="1">
                <a:solidFill>
                  <a:srgbClr val="4F8FD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7228" y="1613626"/>
            <a:ext cx="5736060" cy="59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36"/>
              </a:lnSpc>
              <a:spcBef>
                <a:spcPct val="0"/>
              </a:spcBef>
            </a:pPr>
            <a:r>
              <a:rPr lang="en-US" sz="3454" b="1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MÓDULOS DEL SISTEMA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52578" y="4188738"/>
            <a:ext cx="6729065" cy="303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1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Módulo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de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Estimulación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y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Recreación</a:t>
            </a:r>
            <a:endParaRPr lang="en-US" sz="2500" b="1" dirty="0">
              <a:solidFill>
                <a:srgbClr val="2D659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041505" y="4673430"/>
            <a:ext cx="6169071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Minijuegos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cognitivos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música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audiolibros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ejercicios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de memoria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diseñados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para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mantener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la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actividad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mental y el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bienestar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emocional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del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usuario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78667" y="6009852"/>
            <a:ext cx="5814665" cy="303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1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Módulo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de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Rutinas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y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Recordatorios</a:t>
            </a:r>
            <a:endParaRPr lang="en-US" sz="2500" b="1" dirty="0">
              <a:solidFill>
                <a:srgbClr val="2D659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061250" y="6479735"/>
            <a:ext cx="6169071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Avisos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sonoros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visuales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para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medicación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hidratación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citas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médicas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Apoya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la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autonomía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del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adulto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mayor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en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su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vida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diaria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con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alertas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personalizadas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034935" y="7763295"/>
            <a:ext cx="6169070" cy="303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81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Módulo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de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Comunicación</a:t>
            </a:r>
            <a:r>
              <a:rPr lang="en-US" sz="2500" b="1" dirty="0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y </a:t>
            </a:r>
            <a:r>
              <a:rPr lang="en-US" sz="2500" b="1" dirty="0" err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Alertas</a:t>
            </a:r>
            <a:endParaRPr lang="en-US" sz="2500" b="1" dirty="0">
              <a:solidFill>
                <a:srgbClr val="2D659F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034934" y="8300849"/>
            <a:ext cx="6169071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Enlace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avisos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directos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contactos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designados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familiares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cuidadores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Facilita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la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comunicación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y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permite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notificaciones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ante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situaciones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u="none" strike="noStrike" dirty="0" err="1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relevantes</a:t>
            </a:r>
            <a:r>
              <a:rPr lang="en-US" sz="1500" u="none" strike="noStrike" dirty="0">
                <a:solidFill>
                  <a:srgbClr val="2D659F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666534" y="3497513"/>
            <a:ext cx="3157449" cy="817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2D659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Componentes funcionales de CORA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A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1631" y="90945"/>
            <a:ext cx="8588766" cy="93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37"/>
              </a:lnSpc>
              <a:spcBef>
                <a:spcPct val="0"/>
              </a:spcBef>
            </a:pPr>
            <a:r>
              <a:rPr lang="en-US" sz="5455" b="1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TECNOLOGÍAS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23349" y="6406243"/>
            <a:ext cx="12549976" cy="1254997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843573" y="-2585655"/>
            <a:ext cx="5462763" cy="54627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35112" y="1015317"/>
            <a:ext cx="1126451" cy="1089841"/>
          </a:xfrm>
          <a:custGeom>
            <a:avLst/>
            <a:gdLst/>
            <a:ahLst/>
            <a:cxnLst/>
            <a:rect l="l" t="t" r="r" b="b"/>
            <a:pathLst>
              <a:path w="1126451" h="108984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3736853" y="1549836"/>
            <a:ext cx="6493950" cy="10474114"/>
          </a:xfrm>
          <a:custGeom>
            <a:avLst/>
            <a:gdLst/>
            <a:ahLst/>
            <a:cxnLst/>
            <a:rect l="l" t="t" r="r" b="b"/>
            <a:pathLst>
              <a:path w="6493950" h="10474114">
                <a:moveTo>
                  <a:pt x="0" y="0"/>
                </a:moveTo>
                <a:lnTo>
                  <a:pt x="6493950" y="0"/>
                </a:lnTo>
                <a:lnTo>
                  <a:pt x="6493950" y="10474114"/>
                </a:lnTo>
                <a:lnTo>
                  <a:pt x="0" y="10474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887809" y="1259840"/>
            <a:ext cx="12521079" cy="7998460"/>
          </a:xfrm>
          <a:custGeom>
            <a:avLst/>
            <a:gdLst/>
            <a:ahLst/>
            <a:cxnLst/>
            <a:rect l="l" t="t" r="r" b="b"/>
            <a:pathLst>
              <a:path w="12521079" h="7998460">
                <a:moveTo>
                  <a:pt x="0" y="0"/>
                </a:moveTo>
                <a:lnTo>
                  <a:pt x="12521079" y="0"/>
                </a:lnTo>
                <a:lnTo>
                  <a:pt x="12521079" y="7998460"/>
                </a:lnTo>
                <a:lnTo>
                  <a:pt x="0" y="7998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2A2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1631" y="90945"/>
            <a:ext cx="8588766" cy="93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37"/>
              </a:lnSpc>
              <a:spcBef>
                <a:spcPct val="0"/>
              </a:spcBef>
            </a:pPr>
            <a:r>
              <a:rPr lang="en-US" sz="5455" b="1">
                <a:solidFill>
                  <a:srgbClr val="FFFFFF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TECNOLOGÍAS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23349" y="6406243"/>
            <a:ext cx="12549976" cy="1254997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843573" y="-2585655"/>
            <a:ext cx="5462763" cy="54627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35112" y="1015317"/>
            <a:ext cx="1126451" cy="1089841"/>
          </a:xfrm>
          <a:custGeom>
            <a:avLst/>
            <a:gdLst/>
            <a:ahLst/>
            <a:cxnLst/>
            <a:rect l="l" t="t" r="r" b="b"/>
            <a:pathLst>
              <a:path w="1126451" h="1089841">
                <a:moveTo>
                  <a:pt x="0" y="0"/>
                </a:moveTo>
                <a:lnTo>
                  <a:pt x="1126451" y="0"/>
                </a:lnTo>
                <a:lnTo>
                  <a:pt x="1126451" y="1089841"/>
                </a:lnTo>
                <a:lnTo>
                  <a:pt x="0" y="1089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3736853" y="1549836"/>
            <a:ext cx="6493950" cy="10474114"/>
          </a:xfrm>
          <a:custGeom>
            <a:avLst/>
            <a:gdLst/>
            <a:ahLst/>
            <a:cxnLst/>
            <a:rect l="l" t="t" r="r" b="b"/>
            <a:pathLst>
              <a:path w="6493950" h="10474114">
                <a:moveTo>
                  <a:pt x="0" y="0"/>
                </a:moveTo>
                <a:lnTo>
                  <a:pt x="6493950" y="0"/>
                </a:lnTo>
                <a:lnTo>
                  <a:pt x="6493950" y="10474114"/>
                </a:lnTo>
                <a:lnTo>
                  <a:pt x="0" y="10474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887809" y="1290250"/>
            <a:ext cx="12956948" cy="7968050"/>
          </a:xfrm>
          <a:custGeom>
            <a:avLst/>
            <a:gdLst/>
            <a:ahLst/>
            <a:cxnLst/>
            <a:rect l="l" t="t" r="r" b="b"/>
            <a:pathLst>
              <a:path w="12956948" h="7968050">
                <a:moveTo>
                  <a:pt x="0" y="0"/>
                </a:moveTo>
                <a:lnTo>
                  <a:pt x="12956947" y="0"/>
                </a:lnTo>
                <a:lnTo>
                  <a:pt x="12956947" y="7968050"/>
                </a:lnTo>
                <a:lnTo>
                  <a:pt x="0" y="7968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26120" y="3803756"/>
            <a:ext cx="2077609" cy="2036469"/>
          </a:xfrm>
          <a:custGeom>
            <a:avLst/>
            <a:gdLst/>
            <a:ahLst/>
            <a:cxnLst/>
            <a:rect l="l" t="t" r="r" b="b"/>
            <a:pathLst>
              <a:path w="2077609" h="2036469">
                <a:moveTo>
                  <a:pt x="0" y="0"/>
                </a:moveTo>
                <a:lnTo>
                  <a:pt x="2077609" y="0"/>
                </a:lnTo>
                <a:lnTo>
                  <a:pt x="2077609" y="2036469"/>
                </a:lnTo>
                <a:lnTo>
                  <a:pt x="0" y="2036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2179067" y="4100152"/>
            <a:ext cx="2183918" cy="1771703"/>
          </a:xfrm>
          <a:custGeom>
            <a:avLst/>
            <a:gdLst/>
            <a:ahLst/>
            <a:cxnLst/>
            <a:rect l="l" t="t" r="r" b="b"/>
            <a:pathLst>
              <a:path w="2183918" h="1771703">
                <a:moveTo>
                  <a:pt x="0" y="0"/>
                </a:moveTo>
                <a:lnTo>
                  <a:pt x="2183918" y="0"/>
                </a:lnTo>
                <a:lnTo>
                  <a:pt x="2183918" y="1771703"/>
                </a:lnTo>
                <a:lnTo>
                  <a:pt x="0" y="1771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239173" y="3955878"/>
            <a:ext cx="1613942" cy="1862799"/>
          </a:xfrm>
          <a:custGeom>
            <a:avLst/>
            <a:gdLst/>
            <a:ahLst/>
            <a:cxnLst/>
            <a:rect l="l" t="t" r="r" b="b"/>
            <a:pathLst>
              <a:path w="1613942" h="1862799">
                <a:moveTo>
                  <a:pt x="0" y="0"/>
                </a:moveTo>
                <a:lnTo>
                  <a:pt x="1613942" y="0"/>
                </a:lnTo>
                <a:lnTo>
                  <a:pt x="1613942" y="1862799"/>
                </a:lnTo>
                <a:lnTo>
                  <a:pt x="0" y="1862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-2138108" y="-2195866"/>
            <a:ext cx="22564215" cy="6023656"/>
            <a:chOff x="0" y="0"/>
            <a:chExt cx="4204104" cy="11223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04104" cy="1122311"/>
            </a:xfrm>
            <a:custGeom>
              <a:avLst/>
              <a:gdLst/>
              <a:ahLst/>
              <a:cxnLst/>
              <a:rect l="l" t="t" r="r" b="b"/>
              <a:pathLst>
                <a:path w="4204104" h="1122311">
                  <a:moveTo>
                    <a:pt x="2102052" y="0"/>
                  </a:moveTo>
                  <a:cubicBezTo>
                    <a:pt x="941121" y="0"/>
                    <a:pt x="0" y="251238"/>
                    <a:pt x="0" y="561156"/>
                  </a:cubicBezTo>
                  <a:cubicBezTo>
                    <a:pt x="0" y="871073"/>
                    <a:pt x="941121" y="1122311"/>
                    <a:pt x="2102052" y="1122311"/>
                  </a:cubicBezTo>
                  <a:cubicBezTo>
                    <a:pt x="3262983" y="1122311"/>
                    <a:pt x="4204104" y="871073"/>
                    <a:pt x="4204104" y="561156"/>
                  </a:cubicBezTo>
                  <a:cubicBezTo>
                    <a:pt x="4204104" y="251238"/>
                    <a:pt x="3262983" y="0"/>
                    <a:pt x="21020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4135" y="57592"/>
              <a:ext cx="3415834" cy="959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7108928" y="4024489"/>
            <a:ext cx="0" cy="4603719"/>
          </a:xfrm>
          <a:prstGeom prst="line">
            <a:avLst/>
          </a:prstGeom>
          <a:ln w="66675" cap="rnd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9" name="AutoShape 9"/>
          <p:cNvSpPr/>
          <p:nvPr/>
        </p:nvSpPr>
        <p:spPr>
          <a:xfrm flipH="1">
            <a:off x="11219742" y="3976642"/>
            <a:ext cx="0" cy="4822102"/>
          </a:xfrm>
          <a:prstGeom prst="line">
            <a:avLst/>
          </a:prstGeom>
          <a:ln w="66675" cap="rnd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3411680" y="5899632"/>
            <a:ext cx="3234965" cy="40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6"/>
              </a:lnSpc>
            </a:pPr>
            <a:r>
              <a:rPr lang="en-US" sz="241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Alcance Preliminar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11680" y="6438217"/>
            <a:ext cx="3501124" cy="141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7"/>
              </a:lnSpc>
              <a:spcBef>
                <a:spcPct val="0"/>
              </a:spcBef>
            </a:pPr>
            <a:r>
              <a:rPr lang="en-US" sz="1619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Stack y módulos son preliminares, sujetos a ajustes tras entrevistas y pruebas con adultos mayores, cuidadores y personal de residencias.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91826" y="5899632"/>
            <a:ext cx="3234965" cy="40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6"/>
              </a:lnSpc>
            </a:pPr>
            <a:r>
              <a:rPr lang="en-US" sz="241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Validación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91826" y="6438217"/>
            <a:ext cx="3501124" cy="141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7"/>
              </a:lnSpc>
              <a:spcBef>
                <a:spcPct val="0"/>
              </a:spcBef>
            </a:pPr>
            <a:r>
              <a:rPr lang="en-US" sz="1619" u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 validará ergonomía, accesibilidad de voz y pertinencia de rutinas directamente con el cliente final para asegurar una solución centrada en el usuario.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81705" y="5899632"/>
            <a:ext cx="3234965" cy="405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6"/>
              </a:lnSpc>
            </a:pPr>
            <a:r>
              <a:rPr lang="en-US" sz="2419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Colaboración Futura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25765" y="1608491"/>
            <a:ext cx="9033246" cy="68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81"/>
              </a:lnSpc>
              <a:spcBef>
                <a:spcPct val="0"/>
              </a:spcBef>
            </a:pPr>
            <a:r>
              <a:rPr lang="en-US" sz="3986" b="1" u="none" strike="noStrike">
                <a:solidFill>
                  <a:srgbClr val="4F8FD1"/>
                </a:solidFill>
                <a:latin typeface="Cocomat Pro Heavy"/>
                <a:ea typeface="Cocomat Pro Heavy"/>
                <a:cs typeface="Cocomat Pro Heavy"/>
                <a:sym typeface="Cocomat Pro Heavy"/>
              </a:rPr>
              <a:t>VALIDACIÓN Y PRÓXIMOS 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343</Words>
  <Application>Microsoft Office PowerPoint</Application>
  <PresentationFormat>Personalizado</PresentationFormat>
  <Paragraphs>40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Cocomat Pro Heavy</vt:lpstr>
      <vt:lpstr>Noto Sans</vt:lpstr>
      <vt:lpstr>Noto Sans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CORA</dc:title>
  <cp:lastModifiedBy>FRANCISCA ALEJANDRA OTAROLA GODOY</cp:lastModifiedBy>
  <cp:revision>2</cp:revision>
  <dcterms:created xsi:type="dcterms:W3CDTF">2006-08-16T00:00:00Z</dcterms:created>
  <dcterms:modified xsi:type="dcterms:W3CDTF">2026-08-28T12:36:00Z</dcterms:modified>
  <dc:identifier>DAHTg2Elkfo</dc:identifier>
</cp:coreProperties>
</file>